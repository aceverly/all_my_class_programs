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15ad403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15ad403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22c35ead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22c35ead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2c35ead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22c35ead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1be9af4e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1be9af4e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2c35eadc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22c35ead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2c35eadc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22c35ead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a97280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a97280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3e73bd1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23e73bd1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22c35ead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22c35ead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21be9af4e_1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21be9af4e_1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1be9af4e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1be9af4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>
                <a:latin typeface="Times New Roman"/>
                <a:ea typeface="Times New Roman"/>
                <a:cs typeface="Times New Roman"/>
                <a:sym typeface="Times New Roman"/>
              </a:rPr>
              <a:t>Air Quality &amp; Health Outcomes: </a:t>
            </a:r>
            <a:br>
              <a:rPr lang="en" sz="348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480">
                <a:latin typeface="Times New Roman"/>
                <a:ea typeface="Times New Roman"/>
                <a:cs typeface="Times New Roman"/>
                <a:sym typeface="Times New Roman"/>
              </a:rPr>
              <a:t>Explore pollution’s effect on Asthma, Respiratory Illness, and Hospitalization</a:t>
            </a:r>
            <a:endParaRPr sz="34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Mauricio Mendoza-Silos,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Adalynn Everly, James Burkhart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47000" y="3723600"/>
            <a:ext cx="76500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"I durst not laugh for fear of opening my lips and receiving the bad air." — </a:t>
            </a:r>
            <a:r>
              <a:rPr b="1" lang="en" sz="1900">
                <a:solidFill>
                  <a:schemeClr val="dk1"/>
                </a:solidFill>
              </a:rPr>
              <a:t>William Shakespeare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i="1" lang="en" sz="1900">
                <a:solidFill>
                  <a:schemeClr val="dk1"/>
                </a:solidFill>
              </a:rPr>
              <a:t>(from Julius Caesar)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Presentation Content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Introduction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"Why": Project motivation and research objectives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Data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"What": Our dataset from Kaggle and its features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 Methods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"How": Our analytical tools and statistical approaches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 Findings &amp; Conclusions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results and key lessons from our analysis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250" y="1461488"/>
            <a:ext cx="4267202" cy="22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41475" y="12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Why Air Quality Matters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41475" y="701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see daily AQI warnings, but what do they actually </a:t>
            </a:r>
            <a:r>
              <a:rPr i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health?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 particles (PM2.5) and ground-level ozone irritate lungs and worsen asthma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air quality increases ER visits, hospitalizations, and long-term risks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00" y="2376525"/>
            <a:ext cx="3902076" cy="229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101" y="2454775"/>
            <a:ext cx="2352251" cy="2215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97600" y="102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 Sources (What We Used):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3400" y="887800"/>
            <a:ext cx="9097200" cy="3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dataset: 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Air Quality and Respiratory Health Outcomes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Size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88,489 observations, 12 features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Pollutants: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aqi, pm2_5, pm10, no2, o3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temperature, humidity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Demographics: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city, population_density, hospital_capacity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(What we are predicting)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hopsital_admissions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Challenge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ValueError during analysis revealed that population_density and hospital_capacity were categorical (e.g., 'Rural', 'Urban'), not numerical! This was a key part of our data cleaning.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100" y="1456800"/>
            <a:ext cx="5960700" cy="11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Key Pollutants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389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PM2.5: Fine, inhalable particles 30x smaller than a human hair. Can get deep into the lungs and bloodstream.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O3 (Ozone): Good high up, but on the ground, it's "smog." Irritates the lungs.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NO2: Gas from traffic and industry, linked to respiratory issues.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7" title="SnapInsta.to_485164271_1049417760554768_483700674953395058_n.jpg"/>
          <p:cNvPicPr preferRelativeResize="0"/>
          <p:nvPr/>
        </p:nvPicPr>
        <p:blipFill rotWithShape="1">
          <a:blip r:embed="rId3">
            <a:alphaModFix/>
          </a:blip>
          <a:srcRect b="7195" l="0" r="0" t="8651"/>
          <a:stretch/>
        </p:blipFill>
        <p:spPr>
          <a:xfrm>
            <a:off x="4795937" y="1152475"/>
            <a:ext cx="3857926" cy="324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Research Questions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Which pollutants are most strongly linked to respiratory hospitalization rates?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+ feature importance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uantify impact of PM2.5, Ozone, NO₂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Can we classify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“higher-risk” vs “lower-risk”?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-&gt; Random Forest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with ROC-AUC, confusion matrix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Do countries naturally cluster into similar pollution + health profiles?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 on standardized features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for regional patterns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3d Red question mark. (Provided by Getty Images)"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425" y="1260625"/>
            <a:ext cx="3271849" cy="294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Accumulated: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AQI, PM2.5, PM10, NO₂, O₃, temp, humidity, hospital capacity, admissions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did: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Checked for missing values, any trends, and distribution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Poisson method and Gradient Boosting to estimate next-month admissions [how the air quality will differ within a month].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Classification: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Logistic baseline into Gradient Boosting/Random Forest to calculate any high risk variables in air quality per city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k-means to group city-months by a mix of their pollution and weather qualities.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Evaluation: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regression part, we looked at our MAE, RMSE, and R² values to determine which of the models holds true and yields better results on air quality. For classification, we looked at our ROC-AUC, PR-AUC values and Confusion Matrices for determining if the models hold up.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0" title="pm25_timese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1552788"/>
            <a:ext cx="3732701" cy="27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regression_pred_vs_actu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6" y="1552788"/>
            <a:ext cx="3732699" cy="2799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cont.</a:t>
            </a:r>
            <a:endParaRPr/>
          </a:p>
        </p:txBody>
      </p:sp>
      <p:pic>
        <p:nvPicPr>
          <p:cNvPr id="111" name="Google Shape;111;p2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538" y="1017723"/>
            <a:ext cx="4886924" cy="40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7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</a:t>
            </a:r>
            <a:endParaRPr b="1"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64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Air quality comparison (overall, lower is better):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	Mexico City</a:t>
            </a:r>
            <a:r>
              <a:rPr lang="en" sz="1300">
                <a:solidFill>
                  <a:schemeClr val="dk1"/>
                </a:solidFill>
              </a:rPr>
              <a:t> best, </a:t>
            </a:r>
            <a:r>
              <a:rPr b="1" lang="en" sz="1300">
                <a:solidFill>
                  <a:schemeClr val="dk1"/>
                </a:solidFill>
              </a:rPr>
              <a:t>London</a:t>
            </a:r>
            <a:r>
              <a:rPr lang="en" sz="1300">
                <a:solidFill>
                  <a:schemeClr val="dk1"/>
                </a:solidFill>
              </a:rPr>
              <a:t> second-best, </a:t>
            </a:r>
            <a:r>
              <a:rPr b="1" lang="en" sz="1300">
                <a:solidFill>
                  <a:schemeClr val="dk1"/>
                </a:solidFill>
              </a:rPr>
              <a:t>São Paulo</a:t>
            </a:r>
            <a:r>
              <a:rPr lang="en" sz="1300">
                <a:solidFill>
                  <a:schemeClr val="dk1"/>
                </a:solidFill>
              </a:rPr>
              <a:t> second-worst, </a:t>
            </a:r>
            <a:r>
              <a:rPr b="1" lang="en" sz="1300">
                <a:solidFill>
                  <a:schemeClr val="dk1"/>
                </a:solidFill>
              </a:rPr>
              <a:t>Cairo</a:t>
            </a:r>
            <a:r>
              <a:rPr lang="en" sz="1300">
                <a:solidFill>
                  <a:schemeClr val="dk1"/>
                </a:solidFill>
              </a:rPr>
              <a:t> worst.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	[Composite across AQI, PM₂.₅, PM₁₀, NO₂, O₃; based on city means.]</a:t>
            </a:r>
            <a:br>
              <a:rPr i="1"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Signal drivers: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chemeClr val="dk1"/>
                </a:solidFill>
              </a:rPr>
              <a:t>PM₂.₅ / NO₂ / O₃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humidity</a:t>
            </a:r>
            <a:r>
              <a:rPr lang="en" sz="1300">
                <a:solidFill>
                  <a:schemeClr val="dk1"/>
                </a:solidFill>
              </a:rPr>
              <a:t> are the strongest associates with admissions; sizable </a:t>
            </a:r>
            <a:r>
              <a:rPr b="1" lang="en" sz="1300">
                <a:solidFill>
                  <a:schemeClr val="dk1"/>
                </a:solidFill>
              </a:rPr>
              <a:t>city effects</a:t>
            </a:r>
            <a:r>
              <a:rPr lang="en" sz="1300">
                <a:solidFill>
                  <a:schemeClr val="dk1"/>
                </a:solidFill>
              </a:rPr>
              <a:t> remain.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Forecasting difficulty: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	Month-ahead counts are hard to predict (Poisson </a:t>
            </a:r>
            <a:r>
              <a:rPr b="1" lang="en" sz="1300">
                <a:solidFill>
                  <a:schemeClr val="dk1"/>
                </a:solidFill>
              </a:rPr>
              <a:t>R² ≈ 0</a:t>
            </a:r>
            <a:r>
              <a:rPr lang="en" sz="1300">
                <a:solidFill>
                  <a:schemeClr val="dk1"/>
                </a:solidFill>
              </a:rPr>
              <a:t>, RMSE ≈ </a:t>
            </a:r>
            <a:r>
              <a:rPr b="1" lang="en" sz="1300">
                <a:solidFill>
                  <a:schemeClr val="dk1"/>
                </a:solidFill>
              </a:rPr>
              <a:t>2.3</a:t>
            </a:r>
            <a:r>
              <a:rPr lang="en" sz="1300">
                <a:solidFill>
                  <a:schemeClr val="dk1"/>
                </a:solidFill>
              </a:rPr>
              <a:t> admissions) with current monthly features.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Risk flags need tuning: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	</a:t>
            </a:r>
            <a:r>
              <a:rPr lang="en" sz="1300">
                <a:solidFill>
                  <a:schemeClr val="dk1"/>
                </a:solidFill>
              </a:rPr>
              <a:t>Logistic vs. calibrated gradient boosting are </a:t>
            </a:r>
            <a:r>
              <a:rPr b="1" lang="en" sz="1300">
                <a:solidFill>
                  <a:schemeClr val="dk1"/>
                </a:solidFill>
              </a:rPr>
              <a:t>near chance</a:t>
            </a:r>
            <a:r>
              <a:rPr lang="en" sz="1300">
                <a:solidFill>
                  <a:schemeClr val="dk1"/>
                </a:solidFill>
              </a:rPr>
              <a:t> (ROC-AUC ~ </a:t>
            </a:r>
            <a:r>
              <a:rPr b="1" lang="en" sz="1300">
                <a:solidFill>
                  <a:schemeClr val="dk1"/>
                </a:solidFill>
              </a:rPr>
              <a:t>0.51–0.53</a:t>
            </a:r>
            <a:r>
              <a:rPr lang="en" sz="1300">
                <a:solidFill>
                  <a:schemeClr val="dk1"/>
                </a:solidFill>
              </a:rPr>
              <a:t>, PR-AUC ~ </a:t>
            </a:r>
            <a:r>
              <a:rPr b="1" lang="en" sz="1300">
                <a:solidFill>
                  <a:schemeClr val="dk1"/>
                </a:solidFill>
              </a:rPr>
              <a:t>0.18–0.19</a:t>
            </a:r>
            <a:r>
              <a:rPr lang="en" sz="1300">
                <a:solidFill>
                  <a:schemeClr val="dk1"/>
                </a:solidFill>
              </a:rPr>
              <a:t>).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	-&gt; Add imbalance handling + threshold tuning for usable recall [with random forest just barely outperforming].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Clustering: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chemeClr val="dk1"/>
                </a:solidFill>
              </a:rPr>
              <a:t>k=2</a:t>
            </a:r>
            <a:r>
              <a:rPr lang="en" sz="1300">
                <a:solidFill>
                  <a:schemeClr val="dk1"/>
                </a:solidFill>
              </a:rPr>
              <a:t> separates a </a:t>
            </a:r>
            <a:r>
              <a:rPr b="1" lang="en" sz="1300">
                <a:solidFill>
                  <a:schemeClr val="dk1"/>
                </a:solidFill>
              </a:rPr>
              <a:t>higher-pollution</a:t>
            </a:r>
            <a:r>
              <a:rPr lang="en" sz="1300">
                <a:solidFill>
                  <a:schemeClr val="dk1"/>
                </a:solidFill>
              </a:rPr>
              <a:t> from a </a:t>
            </a:r>
            <a:r>
              <a:rPr b="1" lang="en" sz="1300">
                <a:solidFill>
                  <a:schemeClr val="dk1"/>
                </a:solidFill>
              </a:rPr>
              <a:t>cleaner-air</a:t>
            </a:r>
            <a:r>
              <a:rPr lang="en" sz="1300">
                <a:solidFill>
                  <a:schemeClr val="dk1"/>
                </a:solidFill>
              </a:rPr>
              <a:t> profile; cities contribute differently to each cluster.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Our predictive models FAILED, and this was our key finding.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regression model to predict the </a:t>
            </a:r>
            <a:r>
              <a:rPr i="1" lang="en" sz="1100">
                <a:solidFill>
                  <a:schemeClr val="dk1"/>
                </a:solidFill>
              </a:rPr>
              <a:t>number</a:t>
            </a:r>
            <a:r>
              <a:rPr lang="en" sz="1100">
                <a:solidFill>
                  <a:schemeClr val="dk1"/>
                </a:solidFill>
              </a:rPr>
              <a:t> of admissions had an </a:t>
            </a:r>
            <a:r>
              <a:rPr b="1" lang="en" sz="1100">
                <a:solidFill>
                  <a:schemeClr val="dk1"/>
                </a:solidFill>
              </a:rPr>
              <a:t>R² ≈ 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classification model to predict </a:t>
            </a:r>
            <a:r>
              <a:rPr i="1" lang="en" sz="1100">
                <a:solidFill>
                  <a:schemeClr val="dk1"/>
                </a:solidFill>
              </a:rPr>
              <a:t>risk</a:t>
            </a:r>
            <a:r>
              <a:rPr lang="en" sz="1100">
                <a:solidFill>
                  <a:schemeClr val="dk1"/>
                </a:solidFill>
              </a:rPr>
              <a:t> was no better than a coin flip (</a:t>
            </a:r>
            <a:r>
              <a:rPr b="1" lang="en" sz="1100">
                <a:solidFill>
                  <a:schemeClr val="dk1"/>
                </a:solidFill>
              </a:rPr>
              <a:t>AUC ≈ 0.51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This proves that these features (pollutants, weather) are NOT strong predictors</a:t>
            </a:r>
            <a:r>
              <a:rPr lang="en" sz="1100">
                <a:solidFill>
                  <a:schemeClr val="dk1"/>
                </a:solidFill>
              </a:rPr>
              <a:t> of hospital admissions, even if they show a weak association.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only clear success was in clustering.</a:t>
            </a:r>
            <a:r>
              <a:rPr lang="en" sz="1100">
                <a:solidFill>
                  <a:schemeClr val="dk1"/>
                </a:solidFill>
              </a:rPr>
              <a:t> We </a:t>
            </a:r>
            <a:r>
              <a:rPr i="1" lang="en" sz="1100">
                <a:solidFill>
                  <a:schemeClr val="dk1"/>
                </a:solidFill>
              </a:rPr>
              <a:t>can</a:t>
            </a:r>
            <a:r>
              <a:rPr lang="en" sz="1100">
                <a:solidFill>
                  <a:schemeClr val="dk1"/>
                </a:solidFill>
              </a:rPr>
              <a:t> use k-means to find natural groups of "high pollution" vs. "low pollution" days, but we </a:t>
            </a:r>
            <a:r>
              <a:rPr i="1" lang="en" sz="1100">
                <a:solidFill>
                  <a:schemeClr val="dk1"/>
                </a:solidFill>
              </a:rPr>
              <a:t>cannot</a:t>
            </a:r>
            <a:r>
              <a:rPr lang="en" sz="1100">
                <a:solidFill>
                  <a:schemeClr val="dk1"/>
                </a:solidFill>
              </a:rPr>
              <a:t> use those groups to predict health outcomes.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Final Lesson:</a:t>
            </a:r>
            <a:r>
              <a:rPr lang="en" sz="1100">
                <a:solidFill>
                  <a:schemeClr val="dk1"/>
                </a:solidFill>
              </a:rPr>
              <a:t> The link between air quality and health is far more complex than these 12 features can explain.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od (Provided by Tenor)"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725" y="3418900"/>
            <a:ext cx="1640550" cy="16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Any Questions?</a:t>
            </a:r>
            <a:endParaRPr sz="2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0661" y="1152475"/>
            <a:ext cx="3762675" cy="371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